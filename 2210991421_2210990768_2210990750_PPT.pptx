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12"/>
  </p:notesMasterIdLst>
  <p:sldIdLst>
    <p:sldId id="268" r:id="rId2"/>
    <p:sldId id="267" r:id="rId3"/>
    <p:sldId id="271" r:id="rId4"/>
    <p:sldId id="274" r:id="rId5"/>
    <p:sldId id="273" r:id="rId6"/>
    <p:sldId id="272" r:id="rId7"/>
    <p:sldId id="278" r:id="rId8"/>
    <p:sldId id="280" r:id="rId9"/>
    <p:sldId id="279" r:id="rId10"/>
    <p:sldId id="265" r:id="rId1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99" autoAdjust="0"/>
    <p:restoredTop sz="94660"/>
  </p:normalViewPr>
  <p:slideViewPr>
    <p:cSldViewPr>
      <p:cViewPr varScale="1">
        <p:scale>
          <a:sx n="78" d="100"/>
          <a:sy n="78" d="100"/>
        </p:scale>
        <p:origin x="1618" y="43"/>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016F786-FBF8-4BCE-A4AF-9FDCF1E2BFEF}" type="datetimeFigureOut">
              <a:rPr lang="en-IN" smtClean="0"/>
              <a:t>30-04-2026</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C09912C-2A0B-4C28-B66B-C9820D260CE1}" type="slidenum">
              <a:rPr lang="en-IN" smtClean="0"/>
              <a:t>‹#›</a:t>
            </a:fld>
            <a:endParaRPr lang="en-IN"/>
          </a:p>
        </p:txBody>
      </p:sp>
    </p:spTree>
    <p:extLst>
      <p:ext uri="{BB962C8B-B14F-4D97-AF65-F5344CB8AC3E}">
        <p14:creationId xmlns:p14="http://schemas.microsoft.com/office/powerpoint/2010/main" val="4370955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C09912C-2A0B-4C28-B66B-C9820D260CE1}" type="slidenum">
              <a:rPr lang="en-IN" smtClean="0"/>
              <a:t>3</a:t>
            </a:fld>
            <a:endParaRPr lang="en-IN"/>
          </a:p>
        </p:txBody>
      </p:sp>
    </p:spTree>
    <p:extLst>
      <p:ext uri="{BB962C8B-B14F-4D97-AF65-F5344CB8AC3E}">
        <p14:creationId xmlns:p14="http://schemas.microsoft.com/office/powerpoint/2010/main" val="20857373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C09912C-2A0B-4C28-B66B-C9820D260CE1}" type="slidenum">
              <a:rPr lang="en-IN" smtClean="0"/>
              <a:t>4</a:t>
            </a:fld>
            <a:endParaRPr lang="en-IN"/>
          </a:p>
        </p:txBody>
      </p:sp>
    </p:spTree>
    <p:extLst>
      <p:ext uri="{BB962C8B-B14F-4D97-AF65-F5344CB8AC3E}">
        <p14:creationId xmlns:p14="http://schemas.microsoft.com/office/powerpoint/2010/main" val="13550048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5486400" cy="914400"/>
          </a:xfrm>
        </p:spPr>
        <p:txBody>
          <a:bodyPr/>
          <a:lstStyle>
            <a:lvl1pPr>
              <a:defRPr sz="3200" b="1">
                <a:latin typeface="Times New Roman" panose="02020603050405020304" pitchFamily="18" charset="0"/>
                <a:cs typeface="Times New Roman" panose="02020603050405020304" pitchFamily="18" charset="0"/>
              </a:defRPr>
            </a:lvl1pPr>
          </a:lstStyle>
          <a:p>
            <a:r>
              <a:rPr lang="en-US"/>
              <a:t>Click to edit Master title style</a:t>
            </a:r>
            <a:endParaRPr lang="en-US" dirty="0"/>
          </a:p>
        </p:txBody>
      </p:sp>
      <p:sp>
        <p:nvSpPr>
          <p:cNvPr id="3" name="Subtitle 2"/>
          <p:cNvSpPr>
            <a:spLocks noGrp="1"/>
          </p:cNvSpPr>
          <p:nvPr>
            <p:ph type="subTitle" idx="1"/>
          </p:nvPr>
        </p:nvSpPr>
        <p:spPr>
          <a:xfrm>
            <a:off x="533400" y="1371600"/>
            <a:ext cx="8153400" cy="47244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lvl1pPr>
          </a:lstStyle>
          <a:p>
            <a:fld id="{1D5BB0C6-8FC1-47C0-B737-D54E21B5B868}" type="datetimeFigureOut">
              <a:rPr lang="en-US" smtClean="0"/>
              <a:pPr/>
              <a:t>4/30/2026</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0F8887D6-2A35-42AC-99C1-5E14D32EE4CF}" type="slidenum">
              <a:rPr lang="en-US" smtClean="0"/>
              <a:pPr/>
              <a:t>‹#›</a:t>
            </a:fld>
            <a:endParaRPr lang="en-US"/>
          </a:p>
        </p:txBody>
      </p:sp>
    </p:spTree>
  </p:cSld>
  <p:clrMapOvr>
    <a:masterClrMapping/>
  </p:clrMapOvr>
  <p:transition advTm="4000">
    <p:cut/>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4" name="Picture 10" descr="LOGO.gif"/>
          <p:cNvPicPr>
            <a:picLocks noChangeAspect="1"/>
          </p:cNvPicPr>
          <p:nvPr/>
        </p:nvPicPr>
        <p:blipFill>
          <a:blip r:embed="rId2" cstate="print"/>
          <a:srcRect b="10713"/>
          <a:stretch>
            <a:fillRect/>
          </a:stretch>
        </p:blipFill>
        <p:spPr bwMode="auto">
          <a:xfrm>
            <a:off x="6553200" y="228600"/>
            <a:ext cx="2057400" cy="635000"/>
          </a:xfrm>
          <a:prstGeom prst="rect">
            <a:avLst/>
          </a:prstGeom>
          <a:noFill/>
          <a:ln w="9525">
            <a:noFill/>
            <a:miter lim="800000"/>
            <a:headEnd/>
            <a:tailEnd/>
          </a:ln>
        </p:spPr>
      </p:pic>
      <p:grpSp>
        <p:nvGrpSpPr>
          <p:cNvPr id="5" name="Group 7"/>
          <p:cNvGrpSpPr>
            <a:grpSpLocks/>
          </p:cNvGrpSpPr>
          <p:nvPr/>
        </p:nvGrpSpPr>
        <p:grpSpPr bwMode="auto">
          <a:xfrm>
            <a:off x="6146800" y="0"/>
            <a:ext cx="2997200" cy="876300"/>
            <a:chOff x="6096000" y="3924300"/>
            <a:chExt cx="2997200" cy="876300"/>
          </a:xfrm>
        </p:grpSpPr>
        <p:sp>
          <p:nvSpPr>
            <p:cNvPr id="6" name="Rectangle 11"/>
            <p:cNvSpPr>
              <a:spLocks noChangeArrowheads="1"/>
            </p:cNvSpPr>
            <p:nvPr/>
          </p:nvSpPr>
          <p:spPr bwMode="auto">
            <a:xfrm>
              <a:off x="6096000" y="3924300"/>
              <a:ext cx="2997200" cy="838200"/>
            </a:xfrm>
            <a:prstGeom prst="rect">
              <a:avLst/>
            </a:prstGeom>
            <a:solidFill>
              <a:srgbClr val="FF3300"/>
            </a:solidFill>
            <a:ln w="9525">
              <a:noFill/>
              <a:miter lim="800000"/>
              <a:headEnd/>
              <a:tailEnd/>
            </a:ln>
          </p:spPr>
          <p:txBody>
            <a:bodyPr wrap="none" anchor="ctr"/>
            <a:lstStyle/>
            <a:p>
              <a:endParaRPr lang="en-US">
                <a:latin typeface="Calibri" pitchFamily="34" charset="0"/>
              </a:endParaRPr>
            </a:p>
          </p:txBody>
        </p:sp>
        <p:pic>
          <p:nvPicPr>
            <p:cNvPr id="7" name="Picture 9" descr="LOGO.gif"/>
            <p:cNvPicPr>
              <a:picLocks noChangeAspect="1"/>
            </p:cNvPicPr>
            <p:nvPr/>
          </p:nvPicPr>
          <p:blipFill>
            <a:blip r:embed="rId2" cstate="print"/>
            <a:srcRect b="10713"/>
            <a:stretch>
              <a:fillRect/>
            </a:stretch>
          </p:blipFill>
          <p:spPr bwMode="auto">
            <a:xfrm>
              <a:off x="6502400" y="4152900"/>
              <a:ext cx="2057400" cy="635000"/>
            </a:xfrm>
            <a:prstGeom prst="rect">
              <a:avLst/>
            </a:prstGeom>
            <a:noFill/>
            <a:ln w="9525">
              <a:noFill/>
              <a:miter lim="800000"/>
              <a:headEnd/>
              <a:tailEnd/>
            </a:ln>
          </p:spPr>
        </p:pic>
        <p:sp>
          <p:nvSpPr>
            <p:cNvPr id="8" name="Rectangle 7"/>
            <p:cNvSpPr/>
            <p:nvPr/>
          </p:nvSpPr>
          <p:spPr>
            <a:xfrm>
              <a:off x="6477000" y="4114800"/>
              <a:ext cx="2076450" cy="685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pic>
        <p:nvPicPr>
          <p:cNvPr id="9" name="Picture 15" descr="logo.jpg"/>
          <p:cNvPicPr>
            <a:picLocks noChangeAspect="1"/>
          </p:cNvPicPr>
          <p:nvPr/>
        </p:nvPicPr>
        <p:blipFill>
          <a:blip r:embed="rId3" cstate="print"/>
          <a:srcRect/>
          <a:stretch>
            <a:fillRect/>
          </a:stretch>
        </p:blipFill>
        <p:spPr bwMode="auto">
          <a:xfrm>
            <a:off x="6553200" y="228600"/>
            <a:ext cx="1920875" cy="609600"/>
          </a:xfrm>
          <a:prstGeom prst="rect">
            <a:avLst/>
          </a:prstGeom>
          <a:noFill/>
          <a:ln w="9525">
            <a:noFill/>
            <a:miter lim="800000"/>
            <a:headEnd/>
            <a:tailEnd/>
          </a:ln>
        </p:spPr>
      </p:pic>
      <p:sp>
        <p:nvSpPr>
          <p:cNvPr id="2" name="Title 1"/>
          <p:cNvSpPr>
            <a:spLocks noGrp="1"/>
          </p:cNvSpPr>
          <p:nvPr>
            <p:ph type="title"/>
          </p:nvPr>
        </p:nvSpPr>
        <p:spPr/>
        <p:txBody>
          <a:bodyPr/>
          <a:lstStyle>
            <a:lvl1pPr>
              <a:defRPr sz="3200">
                <a:latin typeface="Times New Roman" panose="02020603050405020304" pitchFamily="18" charset="0"/>
                <a:cs typeface="Times New Roman" panose="02020603050405020304" pitchFamily="18" charset="0"/>
              </a:defRPr>
            </a:lvl1pPr>
          </a:lstStyle>
          <a:p>
            <a:r>
              <a:rPr lang="en-US"/>
              <a:t>Click to edit Master title style</a:t>
            </a:r>
            <a:endParaRPr lang="en-US" dirty="0"/>
          </a:p>
        </p:txBody>
      </p:sp>
      <p:sp>
        <p:nvSpPr>
          <p:cNvPr id="3" name="Content Placeholder 2"/>
          <p:cNvSpPr>
            <a:spLocks noGrp="1"/>
          </p:cNvSpPr>
          <p:nvPr>
            <p:ph idx="1"/>
          </p:nvPr>
        </p:nvSpPr>
        <p:spPr/>
        <p:txBody>
          <a:bodyPr/>
          <a:lstStyle>
            <a:lvl1pPr>
              <a:defRPr sz="2200">
                <a:latin typeface="Times New Roman" panose="02020603050405020304" pitchFamily="18" charset="0"/>
                <a:cs typeface="Times New Roman" panose="02020603050405020304" pitchFamily="18" charset="0"/>
              </a:defRPr>
            </a:lvl1pPr>
            <a:lvl2pPr>
              <a:defRPr sz="2200">
                <a:latin typeface="Times New Roman" panose="02020603050405020304" pitchFamily="18" charset="0"/>
                <a:cs typeface="Times New Roman" panose="02020603050405020304" pitchFamily="18" charset="0"/>
              </a:defRPr>
            </a:lvl2pPr>
            <a:lvl3pPr>
              <a:defRPr sz="2200">
                <a:latin typeface="Times New Roman" panose="02020603050405020304" pitchFamily="18" charset="0"/>
                <a:cs typeface="Times New Roman" panose="02020603050405020304" pitchFamily="18" charset="0"/>
              </a:defRPr>
            </a:lvl3pPr>
            <a:lvl4pPr>
              <a:defRPr sz="2200">
                <a:latin typeface="Times New Roman" panose="02020603050405020304" pitchFamily="18" charset="0"/>
                <a:cs typeface="Times New Roman" panose="02020603050405020304" pitchFamily="18" charset="0"/>
              </a:defRPr>
            </a:lvl4pPr>
            <a:lvl5pPr>
              <a:defRPr sz="2200">
                <a:latin typeface="Times New Roman" panose="02020603050405020304" pitchFamily="18" charset="0"/>
                <a:cs typeface="Times New Roman" panose="02020603050405020304" pitchFamily="18"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Date Placeholder 3"/>
          <p:cNvSpPr>
            <a:spLocks noGrp="1"/>
          </p:cNvSpPr>
          <p:nvPr>
            <p:ph type="dt" sz="half" idx="10"/>
          </p:nvPr>
        </p:nvSpPr>
        <p:spPr/>
        <p:txBody>
          <a:bodyPr/>
          <a:lstStyle>
            <a:lvl1pPr>
              <a:defRPr/>
            </a:lvl1pPr>
          </a:lstStyle>
          <a:p>
            <a:fld id="{1D5BB0C6-8FC1-47C0-B737-D54E21B5B868}" type="datetimeFigureOut">
              <a:rPr lang="en-US" smtClean="0"/>
              <a:pPr/>
              <a:t>4/30/2026</a:t>
            </a:fld>
            <a:endParaRPr lang="en-US"/>
          </a:p>
        </p:txBody>
      </p:sp>
      <p:sp>
        <p:nvSpPr>
          <p:cNvPr id="11" name="Footer Placeholder 4"/>
          <p:cNvSpPr>
            <a:spLocks noGrp="1"/>
          </p:cNvSpPr>
          <p:nvPr>
            <p:ph type="ftr" sz="quarter" idx="11"/>
          </p:nvPr>
        </p:nvSpPr>
        <p:spPr/>
        <p:txBody>
          <a:bodyPr/>
          <a:lstStyle>
            <a:lvl1pPr>
              <a:defRPr/>
            </a:lvl1pPr>
          </a:lstStyle>
          <a:p>
            <a:endParaRPr lang="en-US"/>
          </a:p>
        </p:txBody>
      </p:sp>
      <p:sp>
        <p:nvSpPr>
          <p:cNvPr id="12" name="Slide Number Placeholder 5"/>
          <p:cNvSpPr>
            <a:spLocks noGrp="1"/>
          </p:cNvSpPr>
          <p:nvPr>
            <p:ph type="sldNum" sz="quarter" idx="12"/>
          </p:nvPr>
        </p:nvSpPr>
        <p:spPr/>
        <p:txBody>
          <a:bodyPr/>
          <a:lstStyle>
            <a:lvl1pPr>
              <a:defRPr/>
            </a:lvl1pPr>
          </a:lstStyle>
          <a:p>
            <a:fld id="{0F8887D6-2A35-42AC-99C1-5E14D32EE4CF}" type="slidenum">
              <a:rPr lang="en-US" smtClean="0"/>
              <a:pPr/>
              <a:t>‹#›</a:t>
            </a:fld>
            <a:endParaRPr lang="en-US"/>
          </a:p>
        </p:txBody>
      </p:sp>
    </p:spTree>
  </p:cSld>
  <p:clrMapOvr>
    <a:masterClrMapping/>
  </p:clrMapOvr>
  <p:transition advTm="4000">
    <p:cut/>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1D5BB0C6-8FC1-47C0-B737-D54E21B5B868}" type="datetimeFigureOut">
              <a:rPr lang="en-US" smtClean="0"/>
              <a:pPr/>
              <a:t>4/30/2026</a:t>
            </a:fld>
            <a:endParaRPr lang="en-US"/>
          </a:p>
        </p:txBody>
      </p:sp>
      <p:sp>
        <p:nvSpPr>
          <p:cNvPr id="24" name="Footer Placeholder 23"/>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8887D6-2A35-42AC-99C1-5E14D32EE4CF}" type="slidenum">
              <a:rPr lang="en-US" smtClean="0"/>
              <a:pPr/>
              <a:t>‹#›</a:t>
            </a:fld>
            <a:endParaRPr lang="en-US"/>
          </a:p>
        </p:txBody>
      </p:sp>
    </p:spTree>
  </p:cSld>
  <p:clrMapOvr>
    <a:masterClrMapping/>
  </p:clrMapOvr>
  <p:transition advTm="4000">
    <p:cut/>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jpeg"/><Relationship Id="rId5" Type="http://schemas.openxmlformats.org/officeDocument/2006/relationships/image" Target="../media/image1.pn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0" y="0"/>
            <a:ext cx="6477000" cy="8382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457200" y="13716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a:defRPr sz="1200" b="1">
                <a:solidFill>
                  <a:srgbClr val="0070C0"/>
                </a:solidFill>
                <a:latin typeface="Times New Roman" pitchFamily="18" charset="0"/>
                <a:cs typeface="Times New Roman" pitchFamily="18" charset="0"/>
              </a:defRPr>
            </a:lvl1pPr>
          </a:lstStyle>
          <a:p>
            <a:fld id="{1D5BB0C6-8FC1-47C0-B737-D54E21B5B868}" type="datetimeFigureOut">
              <a:rPr lang="en-US" smtClean="0"/>
              <a:pPr/>
              <a:t>4/30/2026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wrap="square" lIns="91440" tIns="45720" rIns="91440" bIns="45720" numCol="1" anchor="ctr" anchorCtr="0" compatLnSpc="1">
            <a:prstTxWarp prst="textNoShape">
              <a:avLst/>
            </a:prstTxWarp>
          </a:bodyPr>
          <a:lstStyle>
            <a:lvl1pPr algn="ctr">
              <a:defRPr sz="1200" b="1">
                <a:solidFill>
                  <a:srgbClr val="0070C0"/>
                </a:solidFill>
                <a:latin typeface="Times New Roman" pitchFamily="18" charset="0"/>
                <a:ea typeface="ＭＳ Ｐゴシック" charset="-128"/>
                <a:cs typeface="Times New Roman" pitchFamily="18" charset="0"/>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b="1">
                <a:solidFill>
                  <a:srgbClr val="0070C0"/>
                </a:solidFill>
                <a:latin typeface="Times New Roman" pitchFamily="18" charset="0"/>
                <a:cs typeface="Times New Roman" pitchFamily="18" charset="0"/>
              </a:defRPr>
            </a:lvl1pPr>
          </a:lstStyle>
          <a:p>
            <a:fld id="{0F8887D6-2A35-42AC-99C1-5E14D32EE4CF}" type="slidenum">
              <a:rPr lang="en-US" smtClean="0"/>
              <a:pPr/>
              <a:t>‹#›</a:t>
            </a:fld>
            <a:endParaRPr lang="en-US"/>
          </a:p>
        </p:txBody>
      </p:sp>
      <p:sp>
        <p:nvSpPr>
          <p:cNvPr id="1031" name="Rectangle 11"/>
          <p:cNvSpPr>
            <a:spLocks noChangeArrowheads="1"/>
          </p:cNvSpPr>
          <p:nvPr/>
        </p:nvSpPr>
        <p:spPr bwMode="auto">
          <a:xfrm>
            <a:off x="0" y="0"/>
            <a:ext cx="9144000" cy="838200"/>
          </a:xfrm>
          <a:prstGeom prst="rect">
            <a:avLst/>
          </a:prstGeom>
          <a:solidFill>
            <a:srgbClr val="FF3300"/>
          </a:solidFill>
          <a:ln w="9525">
            <a:noFill/>
            <a:miter lim="800000"/>
            <a:headEnd/>
            <a:tailEnd/>
          </a:ln>
        </p:spPr>
        <p:txBody>
          <a:bodyPr wrap="none" anchor="ctr"/>
          <a:lstStyle/>
          <a:p>
            <a:endParaRPr lang="en-US">
              <a:latin typeface="Calibri" pitchFamily="34" charset="0"/>
            </a:endParaRPr>
          </a:p>
        </p:txBody>
      </p:sp>
      <p:sp>
        <p:nvSpPr>
          <p:cNvPr id="8" name="Rectangle 11"/>
          <p:cNvSpPr>
            <a:spLocks noChangeArrowheads="1"/>
          </p:cNvSpPr>
          <p:nvPr/>
        </p:nvSpPr>
        <p:spPr bwMode="auto">
          <a:xfrm flipV="1">
            <a:off x="0" y="6705600"/>
            <a:ext cx="9144000" cy="198116"/>
          </a:xfrm>
          <a:prstGeom prst="rect">
            <a:avLst/>
          </a:prstGeom>
          <a:solidFill>
            <a:srgbClr val="FF0000"/>
          </a:solidFill>
          <a:ln w="9525">
            <a:noFill/>
            <a:miter lim="800000"/>
            <a:headEnd/>
            <a:tailEnd/>
          </a:ln>
          <a:effectLst/>
          <a:scene3d>
            <a:camera prst="orthographicFront"/>
            <a:lightRig rig="threePt" dir="t"/>
          </a:scene3d>
          <a:sp3d>
            <a:bevelB/>
          </a:sp3d>
        </p:spPr>
        <p:txBody>
          <a:bodyPr wrap="none" anchor="ctr"/>
          <a:lstStyle/>
          <a:p>
            <a:pPr>
              <a:defRPr/>
            </a:pPr>
            <a:endParaRPr lang="en-US">
              <a:latin typeface="Calibri" charset="0"/>
              <a:ea typeface="ＭＳ Ｐゴシック" charset="-128"/>
            </a:endParaRPr>
          </a:p>
        </p:txBody>
      </p:sp>
      <p:pic>
        <p:nvPicPr>
          <p:cNvPr id="1035" name="Picture 10" descr="LOGO.gif"/>
          <p:cNvPicPr>
            <a:picLocks noChangeAspect="1"/>
          </p:cNvPicPr>
          <p:nvPr/>
        </p:nvPicPr>
        <p:blipFill>
          <a:blip r:embed="rId5" cstate="print"/>
          <a:srcRect b="10713"/>
          <a:stretch>
            <a:fillRect/>
          </a:stretch>
        </p:blipFill>
        <p:spPr bwMode="auto">
          <a:xfrm>
            <a:off x="6553200" y="228600"/>
            <a:ext cx="2057400" cy="635000"/>
          </a:xfrm>
          <a:prstGeom prst="rect">
            <a:avLst/>
          </a:prstGeom>
          <a:noFill/>
          <a:ln w="9525">
            <a:noFill/>
            <a:miter lim="800000"/>
            <a:headEnd/>
            <a:tailEnd/>
          </a:ln>
        </p:spPr>
      </p:pic>
      <p:pic>
        <p:nvPicPr>
          <p:cNvPr id="1036" name="Picture 10" descr="LOGO.gif"/>
          <p:cNvPicPr>
            <a:picLocks noChangeAspect="1"/>
          </p:cNvPicPr>
          <p:nvPr/>
        </p:nvPicPr>
        <p:blipFill>
          <a:blip r:embed="rId5" cstate="print"/>
          <a:srcRect b="10713"/>
          <a:stretch>
            <a:fillRect/>
          </a:stretch>
        </p:blipFill>
        <p:spPr bwMode="auto">
          <a:xfrm>
            <a:off x="6553200" y="228600"/>
            <a:ext cx="2057400" cy="635000"/>
          </a:xfrm>
          <a:prstGeom prst="rect">
            <a:avLst/>
          </a:prstGeom>
          <a:noFill/>
          <a:ln w="9525">
            <a:noFill/>
            <a:miter lim="800000"/>
            <a:headEnd/>
            <a:tailEnd/>
          </a:ln>
        </p:spPr>
      </p:pic>
      <p:grpSp>
        <p:nvGrpSpPr>
          <p:cNvPr id="2" name="Group 7"/>
          <p:cNvGrpSpPr>
            <a:grpSpLocks/>
          </p:cNvGrpSpPr>
          <p:nvPr/>
        </p:nvGrpSpPr>
        <p:grpSpPr bwMode="auto">
          <a:xfrm>
            <a:off x="6146800" y="0"/>
            <a:ext cx="2997200" cy="876300"/>
            <a:chOff x="6096000" y="3924300"/>
            <a:chExt cx="2997200" cy="876300"/>
          </a:xfrm>
        </p:grpSpPr>
        <p:sp>
          <p:nvSpPr>
            <p:cNvPr id="1039" name="Rectangle 11"/>
            <p:cNvSpPr>
              <a:spLocks noChangeArrowheads="1"/>
            </p:cNvSpPr>
            <p:nvPr/>
          </p:nvSpPr>
          <p:spPr bwMode="auto">
            <a:xfrm>
              <a:off x="6096000" y="3924300"/>
              <a:ext cx="2997200" cy="838200"/>
            </a:xfrm>
            <a:prstGeom prst="rect">
              <a:avLst/>
            </a:prstGeom>
            <a:solidFill>
              <a:srgbClr val="FF3300"/>
            </a:solidFill>
            <a:ln w="9525">
              <a:noFill/>
              <a:miter lim="800000"/>
              <a:headEnd/>
              <a:tailEnd/>
            </a:ln>
          </p:spPr>
          <p:txBody>
            <a:bodyPr wrap="none" anchor="ctr"/>
            <a:lstStyle/>
            <a:p>
              <a:endParaRPr lang="en-US">
                <a:latin typeface="Calibri" pitchFamily="34" charset="0"/>
              </a:endParaRPr>
            </a:p>
          </p:txBody>
        </p:sp>
        <p:pic>
          <p:nvPicPr>
            <p:cNvPr id="1040" name="Picture 9" descr="LOGO.gif"/>
            <p:cNvPicPr>
              <a:picLocks noChangeAspect="1"/>
            </p:cNvPicPr>
            <p:nvPr/>
          </p:nvPicPr>
          <p:blipFill>
            <a:blip r:embed="rId5" cstate="print"/>
            <a:srcRect b="10713"/>
            <a:stretch>
              <a:fillRect/>
            </a:stretch>
          </p:blipFill>
          <p:spPr bwMode="auto">
            <a:xfrm>
              <a:off x="6502400" y="4152900"/>
              <a:ext cx="2057400" cy="635000"/>
            </a:xfrm>
            <a:prstGeom prst="rect">
              <a:avLst/>
            </a:prstGeom>
            <a:noFill/>
            <a:ln w="9525">
              <a:noFill/>
              <a:miter lim="800000"/>
              <a:headEnd/>
              <a:tailEnd/>
            </a:ln>
          </p:spPr>
        </p:pic>
        <p:sp>
          <p:nvSpPr>
            <p:cNvPr id="19" name="Rectangle 18"/>
            <p:cNvSpPr/>
            <p:nvPr/>
          </p:nvSpPr>
          <p:spPr>
            <a:xfrm>
              <a:off x="6477000" y="4114800"/>
              <a:ext cx="2076450" cy="685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pic>
        <p:nvPicPr>
          <p:cNvPr id="1038" name="Picture 15" descr="logo.jpg"/>
          <p:cNvPicPr>
            <a:picLocks noChangeAspect="1"/>
          </p:cNvPicPr>
          <p:nvPr/>
        </p:nvPicPr>
        <p:blipFill>
          <a:blip r:embed="rId6" cstate="print"/>
          <a:srcRect/>
          <a:stretch>
            <a:fillRect/>
          </a:stretch>
        </p:blipFill>
        <p:spPr bwMode="auto">
          <a:xfrm>
            <a:off x="6553200" y="228600"/>
            <a:ext cx="1920875" cy="609600"/>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Lst>
  <p:transition advTm="4000">
    <p:cut/>
  </p:transition>
  <p:txStyles>
    <p:titleStyle>
      <a:lvl1pPr algn="ctr" rtl="0" eaLnBrk="1" fontAlgn="base" hangingPunct="1">
        <a:spcBef>
          <a:spcPct val="0"/>
        </a:spcBef>
        <a:spcAft>
          <a:spcPct val="0"/>
        </a:spcAft>
        <a:defRPr sz="3000" kern="1200">
          <a:solidFill>
            <a:schemeClr val="tx1"/>
          </a:solidFill>
          <a:latin typeface="+mj-lt"/>
          <a:ea typeface="MS PGothic"/>
          <a:cs typeface="MS PGothic"/>
        </a:defRPr>
      </a:lvl1pPr>
      <a:lvl2pPr algn="ctr" rtl="0" eaLnBrk="1" fontAlgn="base" hangingPunct="1">
        <a:spcBef>
          <a:spcPct val="0"/>
        </a:spcBef>
        <a:spcAft>
          <a:spcPct val="0"/>
        </a:spcAft>
        <a:defRPr sz="3000">
          <a:solidFill>
            <a:schemeClr val="tx1"/>
          </a:solidFill>
          <a:latin typeface="Calibri" charset="0"/>
          <a:ea typeface="MS PGothic"/>
          <a:cs typeface="MS PGothic"/>
        </a:defRPr>
      </a:lvl2pPr>
      <a:lvl3pPr algn="ctr" rtl="0" eaLnBrk="1" fontAlgn="base" hangingPunct="1">
        <a:spcBef>
          <a:spcPct val="0"/>
        </a:spcBef>
        <a:spcAft>
          <a:spcPct val="0"/>
        </a:spcAft>
        <a:defRPr sz="3000">
          <a:solidFill>
            <a:schemeClr val="tx1"/>
          </a:solidFill>
          <a:latin typeface="Calibri" charset="0"/>
          <a:ea typeface="MS PGothic"/>
          <a:cs typeface="MS PGothic"/>
        </a:defRPr>
      </a:lvl3pPr>
      <a:lvl4pPr algn="ctr" rtl="0" eaLnBrk="1" fontAlgn="base" hangingPunct="1">
        <a:spcBef>
          <a:spcPct val="0"/>
        </a:spcBef>
        <a:spcAft>
          <a:spcPct val="0"/>
        </a:spcAft>
        <a:defRPr sz="3000">
          <a:solidFill>
            <a:schemeClr val="tx1"/>
          </a:solidFill>
          <a:latin typeface="Calibri" charset="0"/>
          <a:ea typeface="MS PGothic"/>
          <a:cs typeface="MS PGothic"/>
        </a:defRPr>
      </a:lvl4pPr>
      <a:lvl5pPr algn="ctr" rtl="0" eaLnBrk="1" fontAlgn="base" hangingPunct="1">
        <a:spcBef>
          <a:spcPct val="0"/>
        </a:spcBef>
        <a:spcAft>
          <a:spcPct val="0"/>
        </a:spcAft>
        <a:defRPr sz="3000">
          <a:solidFill>
            <a:schemeClr val="tx1"/>
          </a:solidFill>
          <a:latin typeface="Calibri" charset="0"/>
          <a:ea typeface="MS PGothic"/>
          <a:cs typeface="MS PGothic"/>
        </a:defRPr>
      </a:lvl5pPr>
      <a:lvl6pPr marL="457200" algn="ctr" rtl="0" eaLnBrk="1" fontAlgn="base" hangingPunct="1">
        <a:spcBef>
          <a:spcPct val="0"/>
        </a:spcBef>
        <a:spcAft>
          <a:spcPct val="0"/>
        </a:spcAft>
        <a:defRPr sz="3000">
          <a:solidFill>
            <a:schemeClr val="tx1"/>
          </a:solidFill>
          <a:latin typeface="Calibri" charset="0"/>
          <a:ea typeface="ＭＳ Ｐゴシック" charset="-128"/>
        </a:defRPr>
      </a:lvl6pPr>
      <a:lvl7pPr marL="914400" algn="ctr" rtl="0" eaLnBrk="1" fontAlgn="base" hangingPunct="1">
        <a:spcBef>
          <a:spcPct val="0"/>
        </a:spcBef>
        <a:spcAft>
          <a:spcPct val="0"/>
        </a:spcAft>
        <a:defRPr sz="3000">
          <a:solidFill>
            <a:schemeClr val="tx1"/>
          </a:solidFill>
          <a:latin typeface="Calibri" charset="0"/>
          <a:ea typeface="ＭＳ Ｐゴシック" charset="-128"/>
        </a:defRPr>
      </a:lvl7pPr>
      <a:lvl8pPr marL="1371600" algn="ctr" rtl="0" eaLnBrk="1" fontAlgn="base" hangingPunct="1">
        <a:spcBef>
          <a:spcPct val="0"/>
        </a:spcBef>
        <a:spcAft>
          <a:spcPct val="0"/>
        </a:spcAft>
        <a:defRPr sz="3000">
          <a:solidFill>
            <a:schemeClr val="tx1"/>
          </a:solidFill>
          <a:latin typeface="Calibri" charset="0"/>
          <a:ea typeface="ＭＳ Ｐゴシック" charset="-128"/>
        </a:defRPr>
      </a:lvl8pPr>
      <a:lvl9pPr marL="1828800" algn="ctr" rtl="0" eaLnBrk="1" fontAlgn="base" hangingPunct="1">
        <a:spcBef>
          <a:spcPct val="0"/>
        </a:spcBef>
        <a:spcAft>
          <a:spcPct val="0"/>
        </a:spcAft>
        <a:defRPr sz="3000">
          <a:solidFill>
            <a:schemeClr val="tx1"/>
          </a:solidFill>
          <a:latin typeface="Calibri" charset="0"/>
          <a:ea typeface="ＭＳ Ｐゴシック" charset="-128"/>
        </a:defRPr>
      </a:lvl9pPr>
    </p:titleStyle>
    <p:bodyStyle>
      <a:lvl1pPr marL="342900" indent="-342900" algn="l" rtl="0" eaLnBrk="1" fontAlgn="base" hangingPunct="1">
        <a:spcBef>
          <a:spcPct val="20000"/>
        </a:spcBef>
        <a:spcAft>
          <a:spcPct val="0"/>
        </a:spcAft>
        <a:buFont typeface="Arial" pitchFamily="34" charset="0"/>
        <a:buChar char="•"/>
        <a:defRPr sz="3200" kern="1200">
          <a:solidFill>
            <a:schemeClr val="tx1"/>
          </a:solidFill>
          <a:latin typeface="+mn-lt"/>
          <a:ea typeface="MS PGothic"/>
          <a:cs typeface="MS PGothic"/>
        </a:defRPr>
      </a:lvl1pPr>
      <a:lvl2pPr marL="742950" indent="-285750" algn="l" rtl="0" eaLnBrk="1" fontAlgn="base" hangingPunct="1">
        <a:spcBef>
          <a:spcPct val="20000"/>
        </a:spcBef>
        <a:spcAft>
          <a:spcPct val="0"/>
        </a:spcAft>
        <a:buFont typeface="Arial" pitchFamily="34" charset="0"/>
        <a:buChar char="–"/>
        <a:defRPr sz="2800" kern="1200">
          <a:solidFill>
            <a:schemeClr val="tx1"/>
          </a:solidFill>
          <a:latin typeface="+mn-lt"/>
          <a:ea typeface="MS PGothic"/>
          <a:cs typeface="MS PGothic"/>
        </a:defRPr>
      </a:lvl2pPr>
      <a:lvl3pPr marL="1143000" indent="-228600" algn="l" rtl="0" eaLnBrk="1" fontAlgn="base" hangingPunct="1">
        <a:spcBef>
          <a:spcPct val="20000"/>
        </a:spcBef>
        <a:spcAft>
          <a:spcPct val="0"/>
        </a:spcAft>
        <a:buFont typeface="Arial" pitchFamily="34" charset="0"/>
        <a:buChar char="•"/>
        <a:defRPr sz="2400" kern="1200">
          <a:solidFill>
            <a:schemeClr val="tx1"/>
          </a:solidFill>
          <a:latin typeface="+mn-lt"/>
          <a:ea typeface="MS PGothic"/>
          <a:cs typeface="MS PGothic"/>
        </a:defRPr>
      </a:lvl3pPr>
      <a:lvl4pPr marL="16002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S PGothic"/>
          <a:cs typeface="MS PGothic"/>
        </a:defRPr>
      </a:lvl4pPr>
      <a:lvl5pPr marL="20574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S PGothic"/>
          <a:cs typeface="MS PGothic"/>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 name="TextBox 3"/>
          <p:cNvSpPr txBox="1"/>
          <p:nvPr/>
        </p:nvSpPr>
        <p:spPr>
          <a:xfrm>
            <a:off x="1259632" y="922830"/>
            <a:ext cx="6624736" cy="1990288"/>
          </a:xfrm>
          <a:prstGeom prst="rect">
            <a:avLst/>
          </a:prstGeom>
        </p:spPr>
        <p:txBody>
          <a:bodyPr wrap="square" rtlCol="0">
            <a:spAutoFit/>
          </a:bodyPr>
          <a:lstStyle/>
          <a:p>
            <a:pPr algn="ctr">
              <a:lnSpc>
                <a:spcPct val="100000"/>
              </a:lnSpc>
              <a:spcBef>
                <a:spcPts val="400"/>
              </a:spcBef>
            </a:pPr>
            <a:r>
              <a:rPr lang="en-IN" sz="2400" dirty="0">
                <a:latin typeface="Times New Roman" panose="02020603050405020304" pitchFamily="18" charset="0"/>
                <a:ea typeface="Calibri" panose="020F0502020204030204" pitchFamily="34" charset="0"/>
                <a:cs typeface="Times New Roman" panose="02020603050405020304" pitchFamily="18" charset="0"/>
              </a:rPr>
              <a:t>Project Presentation of </a:t>
            </a:r>
            <a:r>
              <a:rPr lang="en-US" sz="2400" dirty="0">
                <a:latin typeface="Times New Roman" panose="02020603050405020304" pitchFamily="18" charset="0"/>
                <a:ea typeface="Calibri" panose="020F0502020204030204" pitchFamily="34" charset="0"/>
                <a:cs typeface="Times New Roman" panose="02020603050405020304" pitchFamily="18" charset="0"/>
              </a:rPr>
              <a:t>Co-Op Project at Industry (Module-2) </a:t>
            </a:r>
            <a:endParaRPr lang="en-IN" sz="2400" dirty="0">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00000"/>
              </a:lnSpc>
              <a:spcBef>
                <a:spcPts val="400"/>
              </a:spcBef>
            </a:pPr>
            <a:r>
              <a:rPr lang="en-US" sz="2400" spc="-1" dirty="0">
                <a:latin typeface="Times New Roman" panose="02020603050405020304" pitchFamily="18" charset="0"/>
                <a:ea typeface="Calibri" panose="020F0502020204030204" pitchFamily="34" charset="0"/>
                <a:cs typeface="Times New Roman" panose="02020603050405020304" pitchFamily="18" charset="0"/>
              </a:rPr>
              <a:t>On</a:t>
            </a:r>
          </a:p>
          <a:p>
            <a:pPr algn="ctr"/>
            <a:r>
              <a:rPr lang="en-IN" sz="2400" b="1" dirty="0"/>
              <a:t>Diabetes Prediction Using Supervised Machine Learning Models </a:t>
            </a:r>
          </a:p>
        </p:txBody>
      </p:sp>
      <p:sp>
        <p:nvSpPr>
          <p:cNvPr id="5" name="TextBox 4"/>
          <p:cNvSpPr txBox="1"/>
          <p:nvPr/>
        </p:nvSpPr>
        <p:spPr>
          <a:xfrm>
            <a:off x="3275856" y="4653136"/>
            <a:ext cx="255198" cy="954107"/>
          </a:xfrm>
          <a:prstGeom prst="rect">
            <a:avLst/>
          </a:prstGeom>
          <a:noFill/>
        </p:spPr>
        <p:txBody>
          <a:bodyPr wrap="none" rtlCol="0">
            <a:spAutoFit/>
          </a:bodyPr>
          <a:lstStyle/>
          <a:p>
            <a:r>
              <a:rPr lang="en-US" sz="2000" dirty="0">
                <a:latin typeface="Times New Roman" pitchFamily="18" charset="0"/>
                <a:cs typeface="Times New Roman" pitchFamily="18" charset="0"/>
              </a:rPr>
              <a:t>:</a:t>
            </a:r>
          </a:p>
          <a:p>
            <a:endParaRPr lang="en-US" dirty="0"/>
          </a:p>
          <a:p>
            <a:endParaRPr lang="en-US" dirty="0"/>
          </a:p>
        </p:txBody>
      </p:sp>
      <p:sp useBgFill="1">
        <p:nvSpPr>
          <p:cNvPr id="6" name="TextBox 5">
            <a:extLst>
              <a:ext uri="{FF2B5EF4-FFF2-40B4-BE49-F238E27FC236}">
                <a16:creationId xmlns:a16="http://schemas.microsoft.com/office/drawing/2014/main" id="{39596CC0-0544-9FD2-7AFD-B23ECB7AE8F4}"/>
              </a:ext>
            </a:extLst>
          </p:cNvPr>
          <p:cNvSpPr txBox="1"/>
          <p:nvPr/>
        </p:nvSpPr>
        <p:spPr>
          <a:xfrm>
            <a:off x="1259632" y="3222816"/>
            <a:ext cx="6624736" cy="2339102"/>
          </a:xfrm>
          <a:prstGeom prst="rect">
            <a:avLst/>
          </a:prstGeom>
          <a:ln>
            <a:noFill/>
          </a:ln>
          <a:effectLst>
            <a:outerShdw blurRad="50800" dist="38100" algn="l" rotWithShape="0">
              <a:prstClr val="black">
                <a:alpha val="40000"/>
              </a:prstClr>
            </a:outerShdw>
          </a:effectLst>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US" sz="2600" b="1" dirty="0">
                <a:solidFill>
                  <a:schemeClr val="tx1">
                    <a:lumMod val="95000"/>
                    <a:lumOff val="5000"/>
                  </a:schemeClr>
                </a:solidFill>
              </a:rPr>
              <a:t> Ayush Bhrouta           2210991421</a:t>
            </a:r>
          </a:p>
          <a:p>
            <a:pPr algn="ctr"/>
            <a:r>
              <a:rPr lang="en-US" sz="2600" b="1" dirty="0">
                <a:solidFill>
                  <a:schemeClr val="tx1">
                    <a:lumMod val="95000"/>
                    <a:lumOff val="5000"/>
                  </a:schemeClr>
                </a:solidFill>
              </a:rPr>
              <a:t>Saksham Vashisht      2210990768</a:t>
            </a:r>
          </a:p>
          <a:p>
            <a:pPr algn="ctr"/>
            <a:r>
              <a:rPr lang="en-US" sz="2600" b="1" dirty="0" err="1">
                <a:solidFill>
                  <a:schemeClr val="tx1">
                    <a:lumMod val="95000"/>
                    <a:lumOff val="5000"/>
                  </a:schemeClr>
                </a:solidFill>
              </a:rPr>
              <a:t>Rupindeep</a:t>
            </a:r>
            <a:r>
              <a:rPr lang="en-US" sz="2600" b="1" dirty="0">
                <a:solidFill>
                  <a:schemeClr val="tx1">
                    <a:lumMod val="95000"/>
                    <a:lumOff val="5000"/>
                  </a:schemeClr>
                </a:solidFill>
              </a:rPr>
              <a:t> Singh        2210990750</a:t>
            </a:r>
          </a:p>
          <a:p>
            <a:endParaRPr lang="en-US" sz="2400" b="1" dirty="0">
              <a:solidFill>
                <a:srgbClr val="FF0000"/>
              </a:solidFill>
            </a:endParaRPr>
          </a:p>
          <a:p>
            <a:pPr algn="ctr"/>
            <a:r>
              <a:rPr lang="en-US" sz="2400" b="1" dirty="0">
                <a:solidFill>
                  <a:schemeClr val="tx1"/>
                </a:solidFill>
                <a:latin typeface="Times New Roman" pitchFamily="18" charset="0"/>
                <a:cs typeface="Times New Roman" pitchFamily="18" charset="0"/>
              </a:rPr>
              <a:t>Supervised By:- Dr. Gifty Gupta</a:t>
            </a:r>
            <a:endParaRPr lang="en-US" sz="2000" b="1" dirty="0">
              <a:solidFill>
                <a:srgbClr val="FF0000"/>
              </a:solidFill>
            </a:endParaRPr>
          </a:p>
          <a:p>
            <a:endParaRPr lang="en-US" sz="2000" b="1" dirty="0">
              <a:solidFill>
                <a:srgbClr val="FF0000"/>
              </a:solidFill>
            </a:endParaRPr>
          </a:p>
        </p:txBody>
      </p:sp>
      <p:sp useBgFill="1">
        <p:nvSpPr>
          <p:cNvPr id="9" name="TextBox 8"/>
          <p:cNvSpPr txBox="1"/>
          <p:nvPr/>
        </p:nvSpPr>
        <p:spPr>
          <a:xfrm>
            <a:off x="1259632" y="5445224"/>
            <a:ext cx="6624736" cy="882293"/>
          </a:xfrm>
          <a:prstGeom prst="rect">
            <a:avLst/>
          </a:prstGeom>
        </p:spPr>
        <p:txBody>
          <a:bodyPr wrap="square" rtlCol="0">
            <a:spAutoFit/>
          </a:bodyPr>
          <a:lstStyle/>
          <a:p>
            <a:pPr algn="ctr">
              <a:lnSpc>
                <a:spcPct val="100000"/>
              </a:lnSpc>
              <a:spcBef>
                <a:spcPts val="400"/>
              </a:spcBef>
            </a:pPr>
            <a:r>
              <a:rPr lang="en-US" sz="2400" spc="-1" dirty="0">
                <a:latin typeface="Times New Roman" panose="02020603050405020304" pitchFamily="18" charset="0"/>
                <a:ea typeface="MS PGothic"/>
                <a:cs typeface="Times New Roman" panose="02020603050405020304" pitchFamily="18" charset="0"/>
              </a:rPr>
              <a:t>Department of Computer Science and Engineering, </a:t>
            </a:r>
          </a:p>
          <a:p>
            <a:pPr algn="ctr">
              <a:lnSpc>
                <a:spcPct val="100000"/>
              </a:lnSpc>
              <a:spcBef>
                <a:spcPts val="400"/>
              </a:spcBef>
            </a:pPr>
            <a:r>
              <a:rPr lang="en-US" sz="2400" spc="-1" dirty="0">
                <a:latin typeface="Times New Roman" panose="02020603050405020304" pitchFamily="18" charset="0"/>
                <a:ea typeface="MS PGothic"/>
                <a:cs typeface="Times New Roman" panose="02020603050405020304" pitchFamily="18" charset="0"/>
              </a:rPr>
              <a:t>Chitkara University, Punjab</a:t>
            </a:r>
          </a:p>
        </p:txBody>
      </p:sp>
    </p:spTree>
  </p:cSld>
  <p:clrMapOvr>
    <a:masterClrMapping/>
  </p:clrMapOvr>
  <p:transition advTm="4000">
    <p:cu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67544" y="260648"/>
            <a:ext cx="5400600" cy="584775"/>
          </a:xfrm>
          <a:prstGeom prst="rect">
            <a:avLst/>
          </a:prstGeom>
          <a:noFill/>
        </p:spPr>
        <p:txBody>
          <a:bodyPr wrap="square" rtlCol="0">
            <a:spAutoFit/>
          </a:bodyPr>
          <a:lstStyle/>
          <a:p>
            <a:r>
              <a:rPr lang="en-US" sz="3200" b="1" dirty="0">
                <a:latin typeface="Times New Roman" pitchFamily="18" charset="0"/>
                <a:cs typeface="Times New Roman" pitchFamily="18" charset="0"/>
              </a:rPr>
              <a:t>Table of Contents</a:t>
            </a:r>
            <a:endParaRPr lang="en-US" b="1" dirty="0">
              <a:latin typeface="Times New Roman" pitchFamily="18" charset="0"/>
              <a:cs typeface="Times New Roman" pitchFamily="18" charset="0"/>
            </a:endParaRPr>
          </a:p>
        </p:txBody>
      </p:sp>
      <p:sp>
        <p:nvSpPr>
          <p:cNvPr id="3" name="TextBox 2"/>
          <p:cNvSpPr txBox="1"/>
          <p:nvPr/>
        </p:nvSpPr>
        <p:spPr>
          <a:xfrm>
            <a:off x="323528" y="980728"/>
            <a:ext cx="6912768" cy="4832092"/>
          </a:xfrm>
          <a:prstGeom prst="rect">
            <a:avLst/>
          </a:prstGeom>
          <a:noFill/>
        </p:spPr>
        <p:txBody>
          <a:bodyPr wrap="square" rtlCol="0">
            <a:spAutoFit/>
          </a:bodyPr>
          <a:lstStyle/>
          <a:p>
            <a:pPr marL="571500" indent="-571500">
              <a:buFont typeface="Wingdings" panose="05000000000000000000" pitchFamily="2" charset="2"/>
              <a:buChar char="q"/>
            </a:pPr>
            <a:r>
              <a:rPr lang="en-US" sz="3600" dirty="0">
                <a:latin typeface="Times New Roman" pitchFamily="18" charset="0"/>
                <a:cs typeface="Times New Roman" pitchFamily="18" charset="0"/>
              </a:rPr>
              <a:t>Introduction</a:t>
            </a:r>
          </a:p>
          <a:p>
            <a:pPr marL="571500" indent="-571500">
              <a:buFont typeface="Wingdings" panose="05000000000000000000" pitchFamily="2" charset="2"/>
              <a:buChar char="q"/>
            </a:pPr>
            <a:r>
              <a:rPr lang="en-US" sz="3600" dirty="0">
                <a:latin typeface="Times New Roman" pitchFamily="18" charset="0"/>
                <a:cs typeface="Times New Roman" pitchFamily="18" charset="0"/>
              </a:rPr>
              <a:t>Key Features </a:t>
            </a:r>
          </a:p>
          <a:p>
            <a:pPr marL="571500" indent="-571500">
              <a:buFont typeface="Wingdings" panose="05000000000000000000" pitchFamily="2" charset="2"/>
              <a:buChar char="q"/>
            </a:pPr>
            <a:r>
              <a:rPr lang="en-US" sz="3600" dirty="0">
                <a:latin typeface="Times New Roman" pitchFamily="18" charset="0"/>
                <a:cs typeface="Times New Roman" pitchFamily="18" charset="0"/>
              </a:rPr>
              <a:t>Problem Statement</a:t>
            </a:r>
          </a:p>
          <a:p>
            <a:pPr marL="571500" indent="-571500">
              <a:buFont typeface="Wingdings" panose="05000000000000000000" pitchFamily="2" charset="2"/>
              <a:buChar char="q"/>
            </a:pPr>
            <a:r>
              <a:rPr lang="en-US" sz="3600" dirty="0">
                <a:latin typeface="Times New Roman" pitchFamily="18" charset="0"/>
                <a:cs typeface="Times New Roman" pitchFamily="18" charset="0"/>
              </a:rPr>
              <a:t>Technical Details</a:t>
            </a:r>
          </a:p>
          <a:p>
            <a:pPr marL="571500" indent="-571500">
              <a:buFont typeface="Wingdings" panose="05000000000000000000" pitchFamily="2" charset="2"/>
              <a:buChar char="q"/>
            </a:pPr>
            <a:r>
              <a:rPr lang="en-US" sz="3600" dirty="0">
                <a:latin typeface="Times New Roman" pitchFamily="18" charset="0"/>
                <a:cs typeface="Times New Roman" pitchFamily="18" charset="0"/>
              </a:rPr>
              <a:t>Project Highlights</a:t>
            </a:r>
          </a:p>
          <a:p>
            <a:pPr marL="571500" indent="-571500">
              <a:buFont typeface="Wingdings" panose="05000000000000000000" pitchFamily="2" charset="2"/>
              <a:buChar char="q"/>
            </a:pPr>
            <a:r>
              <a:rPr lang="en-US" sz="3600" dirty="0">
                <a:latin typeface="Times New Roman" pitchFamily="18" charset="0"/>
                <a:cs typeface="Times New Roman" pitchFamily="18" charset="0"/>
              </a:rPr>
              <a:t>Conclusion</a:t>
            </a:r>
          </a:p>
          <a:p>
            <a:pPr marL="571500" indent="-571500">
              <a:buFont typeface="Wingdings" panose="05000000000000000000" pitchFamily="2" charset="2"/>
              <a:buChar char="q"/>
            </a:pPr>
            <a:r>
              <a:rPr lang="en-US" sz="3600" dirty="0">
                <a:latin typeface="Times New Roman" pitchFamily="18" charset="0"/>
                <a:cs typeface="Times New Roman" pitchFamily="18" charset="0"/>
              </a:rPr>
              <a:t>References/Links used</a:t>
            </a:r>
          </a:p>
          <a:p>
            <a:pPr>
              <a:buFont typeface="Arial" pitchFamily="34" charset="0"/>
              <a:buChar char="•"/>
            </a:pPr>
            <a:endParaRPr lang="en-US" sz="2800" dirty="0">
              <a:latin typeface="Times New Roman" pitchFamily="18" charset="0"/>
              <a:cs typeface="Times New Roman" pitchFamily="18" charset="0"/>
            </a:endParaRPr>
          </a:p>
          <a:p>
            <a:pPr>
              <a:buFont typeface="Arial" pitchFamily="34" charset="0"/>
              <a:buChar char="•"/>
            </a:pPr>
            <a:endParaRPr lang="en-US" sz="2800" dirty="0">
              <a:latin typeface="Times New Roman" pitchFamily="18" charset="0"/>
              <a:cs typeface="Times New Roman" pitchFamily="18" charset="0"/>
            </a:endParaRPr>
          </a:p>
        </p:txBody>
      </p:sp>
    </p:spTree>
  </p:cSld>
  <p:clrMapOvr>
    <a:masterClrMapping/>
  </p:clrMapOvr>
  <p:transition advTm="4000">
    <p:cut/>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alpha val="85000"/>
          </a:schemeClr>
        </a:solidFill>
        <a:effectLst/>
      </p:bgPr>
    </p:bg>
    <p:spTree>
      <p:nvGrpSpPr>
        <p:cNvPr id="1" name=""/>
        <p:cNvGrpSpPr/>
        <p:nvPr/>
      </p:nvGrpSpPr>
      <p:grpSpPr>
        <a:xfrm>
          <a:off x="0" y="0"/>
          <a:ext cx="0" cy="0"/>
          <a:chOff x="0" y="0"/>
          <a:chExt cx="0" cy="0"/>
        </a:xfrm>
      </p:grpSpPr>
      <p:sp>
        <p:nvSpPr>
          <p:cNvPr id="2" name="TextBox 1"/>
          <p:cNvSpPr txBox="1"/>
          <p:nvPr/>
        </p:nvSpPr>
        <p:spPr>
          <a:xfrm>
            <a:off x="467544" y="260648"/>
            <a:ext cx="5400600" cy="584775"/>
          </a:xfrm>
          <a:prstGeom prst="rect">
            <a:avLst/>
          </a:prstGeom>
          <a:noFill/>
        </p:spPr>
        <p:txBody>
          <a:bodyPr wrap="square" rtlCol="0">
            <a:spAutoFit/>
          </a:bodyPr>
          <a:lstStyle/>
          <a:p>
            <a:r>
              <a:rPr lang="en-US" sz="3200" dirty="0">
                <a:latin typeface="Times New Roman" pitchFamily="18" charset="0"/>
                <a:cs typeface="Times New Roman" pitchFamily="18" charset="0"/>
              </a:rPr>
              <a:t>Introduction</a:t>
            </a:r>
          </a:p>
        </p:txBody>
      </p:sp>
      <p:sp>
        <p:nvSpPr>
          <p:cNvPr id="8" name="Rectangle 4">
            <a:extLst>
              <a:ext uri="{FF2B5EF4-FFF2-40B4-BE49-F238E27FC236}">
                <a16:creationId xmlns:a16="http://schemas.microsoft.com/office/drawing/2014/main" id="{2C61D299-6833-0DB1-71BE-FAA3563FF358}"/>
              </a:ext>
            </a:extLst>
          </p:cNvPr>
          <p:cNvSpPr>
            <a:spLocks noChangeArrowheads="1"/>
          </p:cNvSpPr>
          <p:nvPr/>
        </p:nvSpPr>
        <p:spPr bwMode="auto">
          <a:xfrm>
            <a:off x="-324544" y="1024662"/>
            <a:ext cx="24878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
        <p:nvSpPr>
          <p:cNvPr id="10" name="Rectangle 6">
            <a:extLst>
              <a:ext uri="{FF2B5EF4-FFF2-40B4-BE49-F238E27FC236}">
                <a16:creationId xmlns:a16="http://schemas.microsoft.com/office/drawing/2014/main" id="{01D8A2DB-159E-8835-D7E3-D1EA1E13DA0E}"/>
              </a:ext>
            </a:extLst>
          </p:cNvPr>
          <p:cNvSpPr>
            <a:spLocks noChangeArrowheads="1"/>
          </p:cNvSpPr>
          <p:nvPr/>
        </p:nvSpPr>
        <p:spPr bwMode="auto">
          <a:xfrm>
            <a:off x="251520" y="-1495580"/>
            <a:ext cx="8784976" cy="102489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Diabetes is a major global health concern affecting millions of people worldwide and leading to serious complications if not detected early. Early prediction is challenging due to its complex nature involving genetic, physiological, and lifestyle factors.</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Traditional diagnostic methods rely on clinical tests and expert analysis, which may not always enable timely detection or efficient risk assessment.</a:t>
            </a:r>
          </a:p>
          <a:p>
            <a:r>
              <a:rPr lang="en-US" sz="2000" dirty="0">
                <a:latin typeface="Times New Roman" panose="02020603050405020304" pitchFamily="18" charset="0"/>
                <a:cs typeface="Times New Roman" panose="02020603050405020304" pitchFamily="18" charset="0"/>
              </a:rPr>
              <a:t>With advancements in technology, Machine Learning provides powerful data-driven approaches for disease prediction and healthcare analytics.</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Supervised Machine Learning models analyze medical attributes such as glucose level, BMI, age, and blood pressure to identify patterns and predict diabetes risk.</a:t>
            </a:r>
          </a:p>
          <a:p>
            <a:r>
              <a:rPr lang="en-US" sz="2000" dirty="0">
                <a:latin typeface="Times New Roman" panose="02020603050405020304" pitchFamily="18" charset="0"/>
                <a:cs typeface="Times New Roman" panose="02020603050405020304" pitchFamily="18" charset="0"/>
              </a:rPr>
              <a:t>This project focuses on comparing multiple supervised learning algorithms to determine the most accurate and efficient model for diabetes prediction, helping improve early detection and clinical decision-making.</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accent2">
                    <a:lumMod val="75000"/>
                  </a:schemeClr>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000" dirty="0">
              <a:solidFill>
                <a:schemeClr val="accent2">
                  <a:lumMod val="75000"/>
                </a:schemeClr>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accent2">
                  <a:lumMod val="75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000" dirty="0">
              <a:solidFill>
                <a:schemeClr val="accent2">
                  <a:lumMod val="75000"/>
                </a:schemeClr>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accent2">
                  <a:lumMod val="75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000" dirty="0">
              <a:solidFill>
                <a:schemeClr val="accent2">
                  <a:lumMod val="75000"/>
                </a:schemeClr>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accent2">
                  <a:lumMod val="75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000" dirty="0">
              <a:solidFill>
                <a:schemeClr val="accent2">
                  <a:lumMod val="75000"/>
                </a:schemeClr>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accent2">
                  <a:lumMod val="75000"/>
                </a:schemeClr>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000" dirty="0">
              <a:solidFill>
                <a:schemeClr val="accent2">
                  <a:lumMod val="75000"/>
                </a:schemeClr>
              </a:solidFill>
              <a:latin typeface="Arial" panose="020B0604020202020204" pitchFamily="34" charset="0"/>
            </a:endParaRPr>
          </a:p>
        </p:txBody>
      </p:sp>
    </p:spTree>
  </p:cSld>
  <p:clrMapOvr>
    <a:masterClrMapping/>
  </p:clrMapOvr>
  <p:transition advTm="4000">
    <p:cu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95536" y="116632"/>
            <a:ext cx="5400600" cy="646331"/>
          </a:xfrm>
          <a:prstGeom prst="rect">
            <a:avLst/>
          </a:prstGeom>
          <a:noFill/>
        </p:spPr>
        <p:txBody>
          <a:bodyPr wrap="square" rtlCol="0">
            <a:spAutoFit/>
          </a:bodyPr>
          <a:lstStyle/>
          <a:p>
            <a:r>
              <a:rPr lang="en-US" sz="3600" b="1" dirty="0">
                <a:latin typeface="Times New Roman" pitchFamily="18" charset="0"/>
                <a:cs typeface="Times New Roman" pitchFamily="18" charset="0"/>
              </a:rPr>
              <a:t>Key Features</a:t>
            </a:r>
          </a:p>
        </p:txBody>
      </p:sp>
      <p:sp>
        <p:nvSpPr>
          <p:cNvPr id="3" name="Rectangle 2"/>
          <p:cNvSpPr/>
          <p:nvPr/>
        </p:nvSpPr>
        <p:spPr>
          <a:xfrm>
            <a:off x="251520" y="845423"/>
            <a:ext cx="8316924" cy="6340197"/>
          </a:xfrm>
          <a:prstGeom prst="rect">
            <a:avLst/>
          </a:prstGeom>
        </p:spPr>
        <p:txBody>
          <a:bodyPr wrap="square">
            <a:spAutoFit/>
          </a:bodyPr>
          <a:lstStyle/>
          <a:p>
            <a:r>
              <a:rPr lang="en-US" b="1" dirty="0"/>
              <a:t>Here are the key features of the Diabetes Prediction System:-</a:t>
            </a:r>
            <a:endParaRPr lang="en-US" dirty="0"/>
          </a:p>
          <a:p>
            <a:pPr marL="285750" indent="-285750">
              <a:buFont typeface="Arial" panose="020B0604020202020204" pitchFamily="34" charset="0"/>
              <a:buChar char="•"/>
            </a:pPr>
            <a:r>
              <a:rPr lang="en-US" b="1" dirty="0"/>
              <a:t>Multiple ML Models:</a:t>
            </a:r>
            <a:br>
              <a:rPr lang="en-US" dirty="0"/>
            </a:br>
            <a:r>
              <a:rPr lang="en-US" dirty="0"/>
              <a:t>Implements Logistic Regression, Decision Tree, Support Vector Machine (SVM), and Random Forest for prediction. </a:t>
            </a:r>
          </a:p>
          <a:p>
            <a:pPr marL="285750" indent="-285750">
              <a:buFont typeface="Arial" panose="020B0604020202020204" pitchFamily="34" charset="0"/>
              <a:buChar char="•"/>
            </a:pPr>
            <a:r>
              <a:rPr lang="en-US" b="1" dirty="0"/>
              <a:t>Data Preprocessing:</a:t>
            </a:r>
            <a:br>
              <a:rPr lang="en-US" dirty="0"/>
            </a:br>
            <a:r>
              <a:rPr lang="en-US" dirty="0"/>
              <a:t>Handles missing values and performs feature scaling to improve model accuracy and consistency. </a:t>
            </a:r>
          </a:p>
          <a:p>
            <a:pPr marL="285750" indent="-285750">
              <a:buFont typeface="Arial" panose="020B0604020202020204" pitchFamily="34" charset="0"/>
              <a:buChar char="•"/>
            </a:pPr>
            <a:r>
              <a:rPr lang="en-US" b="1" dirty="0"/>
              <a:t>Comparative Analysis:</a:t>
            </a:r>
            <a:br>
              <a:rPr lang="en-US" dirty="0"/>
            </a:br>
            <a:r>
              <a:rPr lang="en-US" dirty="0"/>
              <a:t>Evaluates models using accuracy, precision, recall, and F1-score for fair performance comparison. </a:t>
            </a:r>
          </a:p>
          <a:p>
            <a:pPr marL="285750" indent="-285750">
              <a:buFont typeface="Arial" panose="020B0604020202020204" pitchFamily="34" charset="0"/>
              <a:buChar char="•"/>
            </a:pPr>
            <a:r>
              <a:rPr lang="en-US" b="1" dirty="0"/>
              <a:t>High Prediction Accuracy:</a:t>
            </a:r>
            <a:br>
              <a:rPr lang="en-US" dirty="0"/>
            </a:br>
            <a:r>
              <a:rPr lang="en-US" dirty="0"/>
              <a:t>Random Forest achieves the highest accuracy (~91%), ensuring reliable predictions. </a:t>
            </a:r>
          </a:p>
          <a:p>
            <a:pPr marL="285750" indent="-285750">
              <a:buFont typeface="Arial" panose="020B0604020202020204" pitchFamily="34" charset="0"/>
              <a:buChar char="•"/>
            </a:pPr>
            <a:r>
              <a:rPr lang="en-US" b="1" dirty="0"/>
              <a:t>Healthcare Data Utilization:</a:t>
            </a:r>
            <a:br>
              <a:rPr lang="en-US" dirty="0"/>
            </a:br>
            <a:r>
              <a:rPr lang="en-US" dirty="0"/>
              <a:t>Uses medical attributes such as glucose level, BMI, age, and blood pressure for prediction. </a:t>
            </a:r>
          </a:p>
          <a:p>
            <a:pPr marL="285750" indent="-285750">
              <a:buFont typeface="Arial" panose="020B0604020202020204" pitchFamily="34" charset="0"/>
              <a:buChar char="•"/>
            </a:pPr>
            <a:r>
              <a:rPr lang="en-US" b="1" dirty="0"/>
              <a:t>Visualization Support:</a:t>
            </a:r>
            <a:br>
              <a:rPr lang="en-US" dirty="0"/>
            </a:br>
            <a:r>
              <a:rPr lang="en-US" dirty="0"/>
              <a:t>Includes confusion matrix, ROC curve, and precision-recall curve for performance analysis. </a:t>
            </a:r>
          </a:p>
          <a:p>
            <a:pPr marL="285750" indent="-285750">
              <a:buFont typeface="Arial" panose="020B0604020202020204" pitchFamily="34" charset="0"/>
              <a:buChar char="•"/>
            </a:pPr>
            <a:r>
              <a:rPr lang="en-US" b="1" dirty="0"/>
              <a:t>Efficient &amp; Scalable:</a:t>
            </a:r>
            <a:br>
              <a:rPr lang="en-US" dirty="0"/>
            </a:br>
            <a:r>
              <a:rPr lang="en-US" dirty="0"/>
              <a:t>Designed to support real-time prediction and can be extended to larger healthcare datasets.</a:t>
            </a:r>
          </a:p>
          <a:p>
            <a:pPr algn="l"/>
            <a:endParaRPr lang="en-US" sz="2800" b="0" i="0" dirty="0">
              <a:solidFill>
                <a:srgbClr val="C00000"/>
              </a:solidFill>
              <a:effectLst/>
              <a:latin typeface="Söhne"/>
            </a:endParaRPr>
          </a:p>
        </p:txBody>
      </p:sp>
    </p:spTree>
  </p:cSld>
  <p:clrMapOvr>
    <a:masterClrMapping/>
  </p:clrMapOvr>
  <p:transition advTm="4000">
    <p:cut/>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Box 1"/>
          <p:cNvSpPr txBox="1"/>
          <p:nvPr/>
        </p:nvSpPr>
        <p:spPr>
          <a:xfrm>
            <a:off x="467544" y="260648"/>
            <a:ext cx="5400600" cy="584775"/>
          </a:xfrm>
          <a:prstGeom prst="rect">
            <a:avLst/>
          </a:prstGeom>
          <a:noFill/>
        </p:spPr>
        <p:txBody>
          <a:bodyPr wrap="square" rtlCol="0">
            <a:spAutoFit/>
          </a:bodyPr>
          <a:lstStyle/>
          <a:p>
            <a:r>
              <a:rPr lang="en-US" sz="3200" b="1" dirty="0">
                <a:latin typeface="Times New Roman" pitchFamily="18" charset="0"/>
                <a:cs typeface="Times New Roman" pitchFamily="18" charset="0"/>
              </a:rPr>
              <a:t>Problem Statement</a:t>
            </a:r>
          </a:p>
        </p:txBody>
      </p:sp>
      <p:sp>
        <p:nvSpPr>
          <p:cNvPr id="3" name="Rectangle 2"/>
          <p:cNvSpPr/>
          <p:nvPr/>
        </p:nvSpPr>
        <p:spPr>
          <a:xfrm>
            <a:off x="459957" y="980728"/>
            <a:ext cx="8136904" cy="5324535"/>
          </a:xfrm>
          <a:prstGeom prst="rect">
            <a:avLst/>
          </a:prstGeom>
        </p:spPr>
        <p:txBody>
          <a:bodyPr wrap="square">
            <a:spAutoFit/>
          </a:bodyPr>
          <a:lstStyle/>
          <a:p>
            <a:r>
              <a:rPr lang="en-US" sz="2000" dirty="0"/>
              <a:t>In today’s healthcare environment, early detection of diabetes remains a major challenge due to the complex nature of the disease and the involvement of multiple risk factors.</a:t>
            </a:r>
          </a:p>
          <a:p>
            <a:endParaRPr lang="en-US" sz="2000" dirty="0"/>
          </a:p>
          <a:p>
            <a:r>
              <a:rPr lang="en-US" sz="2000" dirty="0"/>
              <a:t>Traditional diagnostic methods rely heavily on clinical tests and expert judgment, which may not always provide timely or accurate predictions, especially in the early stages.</a:t>
            </a:r>
          </a:p>
          <a:p>
            <a:endParaRPr lang="en-US" sz="2000" dirty="0"/>
          </a:p>
          <a:p>
            <a:r>
              <a:rPr lang="en-US" sz="2000" dirty="0"/>
              <a:t>Manual analysis of medical data is time-consuming and may lead to errors, making it difficult to identify high-risk patients efficiently.</a:t>
            </a:r>
          </a:p>
          <a:p>
            <a:r>
              <a:rPr lang="en-US" sz="2000" dirty="0"/>
              <a:t>Additionally, different machine learning models produce varying results, making it challenging to select the most suitable and reliable model for diabetes prediction.</a:t>
            </a:r>
          </a:p>
          <a:p>
            <a:endParaRPr lang="en-US" sz="2000" dirty="0"/>
          </a:p>
          <a:p>
            <a:r>
              <a:rPr lang="en-US" sz="2000" dirty="0"/>
              <a:t>There is a need for a system that can accurately analyze medical data, compare multiple algorithms under consistent conditions, and provide reliable predictions to support early diagnosis and decision-making.</a:t>
            </a:r>
          </a:p>
        </p:txBody>
      </p:sp>
    </p:spTree>
  </p:cSld>
  <p:clrMapOvr>
    <a:masterClrMapping/>
  </p:clrMapOvr>
  <p:transition advTm="4000">
    <p:cu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67544" y="260648"/>
            <a:ext cx="5400600" cy="584775"/>
          </a:xfrm>
          <a:prstGeom prst="rect">
            <a:avLst/>
          </a:prstGeom>
          <a:noFill/>
        </p:spPr>
        <p:txBody>
          <a:bodyPr wrap="square" rtlCol="0">
            <a:spAutoFit/>
          </a:bodyPr>
          <a:lstStyle/>
          <a:p>
            <a:r>
              <a:rPr lang="en-US" sz="3200" b="1" dirty="0">
                <a:latin typeface="Times New Roman" pitchFamily="18" charset="0"/>
                <a:cs typeface="Times New Roman" pitchFamily="18" charset="0"/>
              </a:rPr>
              <a:t>Technical Details</a:t>
            </a:r>
          </a:p>
        </p:txBody>
      </p:sp>
      <p:sp>
        <p:nvSpPr>
          <p:cNvPr id="3" name="Rectangle 2"/>
          <p:cNvSpPr/>
          <p:nvPr/>
        </p:nvSpPr>
        <p:spPr>
          <a:xfrm>
            <a:off x="503548" y="864936"/>
            <a:ext cx="8136904" cy="6001643"/>
          </a:xfrm>
          <a:prstGeom prst="rect">
            <a:avLst/>
          </a:prstGeom>
        </p:spPr>
        <p:txBody>
          <a:bodyPr wrap="square">
            <a:spAutoFit/>
          </a:bodyPr>
          <a:lstStyle/>
          <a:p>
            <a:r>
              <a:rPr lang="en-US" sz="1600" b="1" dirty="0"/>
              <a:t>Here’s an overview of the technical details of the system:-</a:t>
            </a:r>
            <a:endParaRPr lang="en-US" sz="1600" dirty="0"/>
          </a:p>
          <a:p>
            <a:pPr marL="285750" indent="-285750">
              <a:buFont typeface="Arial" panose="020B0604020202020204" pitchFamily="34" charset="0"/>
              <a:buChar char="•"/>
            </a:pPr>
            <a:r>
              <a:rPr lang="en-US" sz="1600" b="1" dirty="0"/>
              <a:t>Architecture:-</a:t>
            </a:r>
            <a:br>
              <a:rPr lang="en-US" sz="1600" dirty="0"/>
            </a:br>
            <a:r>
              <a:rPr lang="en-US" sz="1600" dirty="0"/>
              <a:t>The system follows a machine learning pipeline including data preprocessing, model training, evaluation, and prediction.</a:t>
            </a:r>
          </a:p>
          <a:p>
            <a:pPr marL="285750" indent="-285750">
              <a:buFont typeface="Arial" panose="020B0604020202020204" pitchFamily="34" charset="0"/>
              <a:buChar char="•"/>
            </a:pPr>
            <a:r>
              <a:rPr lang="en-US" sz="1600" b="1" dirty="0"/>
              <a:t>Dataset:-</a:t>
            </a:r>
            <a:br>
              <a:rPr lang="en-US" sz="1600" dirty="0"/>
            </a:br>
            <a:r>
              <a:rPr lang="en-US" sz="1600" dirty="0"/>
              <a:t>Uses the PIMA Indians Diabetes Dataset containing medical attributes such as glucose level, BMI, blood pressure, insulin level, and age.</a:t>
            </a:r>
          </a:p>
          <a:p>
            <a:pPr marL="285750" indent="-285750">
              <a:buFont typeface="Arial" panose="020B0604020202020204" pitchFamily="34" charset="0"/>
              <a:buChar char="•"/>
            </a:pPr>
            <a:r>
              <a:rPr lang="en-US" sz="1600" b="1" dirty="0"/>
              <a:t>Frontend (Optional):-</a:t>
            </a:r>
            <a:br>
              <a:rPr lang="en-US" sz="1600" dirty="0"/>
            </a:br>
            <a:r>
              <a:rPr lang="en-US" sz="1600" dirty="0"/>
              <a:t>Can be implemented using React.js to provide a simple and interactive user interface for prediction.</a:t>
            </a:r>
          </a:p>
          <a:p>
            <a:pPr marL="285750" indent="-285750">
              <a:buFont typeface="Arial" panose="020B0604020202020204" pitchFamily="34" charset="0"/>
              <a:buChar char="•"/>
            </a:pPr>
            <a:r>
              <a:rPr lang="en-US" sz="1600" b="1" dirty="0"/>
              <a:t>Backend:-</a:t>
            </a:r>
            <a:br>
              <a:rPr lang="en-US" sz="1600" dirty="0"/>
            </a:br>
            <a:r>
              <a:rPr lang="en-US" sz="1600" dirty="0"/>
              <a:t>Developed using Python with libraries such as Scikit-learn, NumPy, and Pandas for data processing and model building.</a:t>
            </a:r>
          </a:p>
          <a:p>
            <a:pPr marL="285750" indent="-285750">
              <a:buFont typeface="Arial" panose="020B0604020202020204" pitchFamily="34" charset="0"/>
              <a:buChar char="•"/>
            </a:pPr>
            <a:r>
              <a:rPr lang="en-US" sz="1600" b="1" dirty="0"/>
              <a:t>Data Preprocessing:-</a:t>
            </a:r>
            <a:br>
              <a:rPr lang="en-US" sz="1600" dirty="0"/>
            </a:br>
            <a:r>
              <a:rPr lang="en-US" sz="1600" dirty="0"/>
              <a:t>Includes handling missing values, normalization, and feature scaling to improve model performance.</a:t>
            </a:r>
          </a:p>
          <a:p>
            <a:pPr marL="285750" indent="-285750">
              <a:buFont typeface="Arial" panose="020B0604020202020204" pitchFamily="34" charset="0"/>
              <a:buChar char="•"/>
            </a:pPr>
            <a:r>
              <a:rPr lang="en-US" sz="1600" b="1" dirty="0"/>
              <a:t>Machine Learning Models:-</a:t>
            </a:r>
            <a:br>
              <a:rPr lang="en-US" sz="1600" dirty="0"/>
            </a:br>
            <a:r>
              <a:rPr lang="en-US" sz="1600" dirty="0"/>
              <a:t>Logistic Regression, Decision Tree, Support Vector Machine (SVM), and Random Forest are used for prediction and comparison.</a:t>
            </a:r>
          </a:p>
          <a:p>
            <a:pPr marL="285750" indent="-285750">
              <a:buFont typeface="Arial" panose="020B0604020202020204" pitchFamily="34" charset="0"/>
              <a:buChar char="•"/>
            </a:pPr>
            <a:r>
              <a:rPr lang="en-US" sz="1600" b="1" dirty="0"/>
              <a:t>Evaluation Metrics:-</a:t>
            </a:r>
            <a:br>
              <a:rPr lang="en-US" sz="1600" dirty="0"/>
            </a:br>
            <a:r>
              <a:rPr lang="en-US" sz="1600" dirty="0"/>
              <a:t>Performance is evaluated using accuracy, precision, recall, and F1-score along with confusion matrix and ROC curve.</a:t>
            </a:r>
          </a:p>
          <a:p>
            <a:endParaRPr lang="en-US" sz="3200" dirty="0">
              <a:latin typeface="Times New Roman" pitchFamily="18" charset="0"/>
              <a:cs typeface="Times New Roman" pitchFamily="18" charset="0"/>
            </a:endParaRPr>
          </a:p>
        </p:txBody>
      </p:sp>
    </p:spTree>
  </p:cSld>
  <p:clrMapOvr>
    <a:masterClrMapping/>
  </p:clrMapOvr>
  <p:transition advTm="4000">
    <p:cu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30775A49-2C33-5596-C42D-B4F9E5DC305A}"/>
              </a:ext>
            </a:extLst>
          </p:cNvPr>
          <p:cNvSpPr>
            <a:spLocks noChangeArrowheads="1"/>
          </p:cNvSpPr>
          <p:nvPr/>
        </p:nvSpPr>
        <p:spPr bwMode="auto">
          <a:xfrm>
            <a:off x="250989" y="125233"/>
            <a:ext cx="2627784" cy="8617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pPr>
            <a:r>
              <a:rPr kumimoji="0" lang="en-US" altLang="en-US" sz="3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Conclusion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2">
            <a:extLst>
              <a:ext uri="{FF2B5EF4-FFF2-40B4-BE49-F238E27FC236}">
                <a16:creationId xmlns:a16="http://schemas.microsoft.com/office/drawing/2014/main" id="{8CDE8581-B238-5FF8-78A9-F92A88FC3406}"/>
              </a:ext>
            </a:extLst>
          </p:cNvPr>
          <p:cNvSpPr>
            <a:spLocks noChangeArrowheads="1"/>
          </p:cNvSpPr>
          <p:nvPr/>
        </p:nvSpPr>
        <p:spPr bwMode="auto">
          <a:xfrm>
            <a:off x="47989" y="823902"/>
            <a:ext cx="9144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6" name="Rectangle 3">
            <a:extLst>
              <a:ext uri="{FF2B5EF4-FFF2-40B4-BE49-F238E27FC236}">
                <a16:creationId xmlns:a16="http://schemas.microsoft.com/office/drawing/2014/main" id="{523A6FD8-D0F8-48A9-5E0A-1A04577CDC4D}"/>
              </a:ext>
            </a:extLst>
          </p:cNvPr>
          <p:cNvSpPr>
            <a:spLocks noChangeArrowheads="1"/>
          </p:cNvSpPr>
          <p:nvPr/>
        </p:nvSpPr>
        <p:spPr bwMode="auto">
          <a:xfrm>
            <a:off x="218881" y="987007"/>
            <a:ext cx="8802216" cy="5016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000" dirty="0"/>
              <a:t>The Diabetes Prediction System provides an effective and reliable approach for early detection of diabetes using supervised machine learning techniques.</a:t>
            </a:r>
          </a:p>
          <a:p>
            <a:endParaRPr lang="en-US" sz="2000" dirty="0"/>
          </a:p>
          <a:p>
            <a:r>
              <a:rPr lang="en-US" sz="2000" dirty="0"/>
              <a:t>By comparing multiple algorithms under a unified framework, the system identifies </a:t>
            </a:r>
            <a:r>
              <a:rPr lang="en-US" sz="2000" b="1" dirty="0"/>
              <a:t>Random Forest</a:t>
            </a:r>
            <a:r>
              <a:rPr lang="en-US" sz="2000" dirty="0"/>
              <a:t> as the most accurate and robust model for prediction.</a:t>
            </a:r>
          </a:p>
          <a:p>
            <a:endParaRPr lang="en-US" sz="2000" dirty="0"/>
          </a:p>
          <a:p>
            <a:r>
              <a:rPr lang="en-US" sz="2000" dirty="0"/>
              <a:t>The results demonstrate that machine learning models can significantly improve prediction accuracy and assist in identifying high-risk patients at an early stage.</a:t>
            </a:r>
          </a:p>
          <a:p>
            <a:r>
              <a:rPr lang="en-US" sz="2000" dirty="0"/>
              <a:t>The system also highlights the importance of data preprocessing and proper evaluation metrics in achieving optimal performance.</a:t>
            </a:r>
          </a:p>
          <a:p>
            <a:endParaRPr lang="en-US" sz="2000" dirty="0"/>
          </a:p>
          <a:p>
            <a:r>
              <a:rPr lang="en-US" sz="2000" dirty="0"/>
              <a:t>Overall, this project contributes to the development of intelligent healthcare solutions that support clinical decision-making and improve patient outcomes.</a:t>
            </a:r>
          </a:p>
          <a:p>
            <a:endParaRPr lang="en-US" sz="2000" dirty="0"/>
          </a:p>
          <a:p>
            <a:r>
              <a:rPr lang="en-US" sz="2000" dirty="0"/>
              <a:t>Future enhancements may include the use of larger real-world datasets, advanced models such as deep learning, and integration into real-time healthcare systems.</a:t>
            </a:r>
          </a:p>
        </p:txBody>
      </p:sp>
    </p:spTree>
  </p:cSld>
  <p:clrMapOvr>
    <a:masterClrMapping/>
  </p:clrMapOvr>
  <p:transition advTm="4000">
    <p:cu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3EC1D52-2998-DD9A-FCE6-32DE965239C6}"/>
              </a:ext>
            </a:extLst>
          </p:cNvPr>
          <p:cNvSpPr txBox="1"/>
          <p:nvPr/>
        </p:nvSpPr>
        <p:spPr>
          <a:xfrm>
            <a:off x="251520" y="116632"/>
            <a:ext cx="4591664" cy="754053"/>
          </a:xfrm>
          <a:prstGeom prst="rect">
            <a:avLst/>
          </a:prstGeom>
          <a:noFill/>
        </p:spPr>
        <p:txBody>
          <a:bodyPr wrap="square">
            <a:spAutoFit/>
          </a:bodyPr>
          <a:lstStyle/>
          <a:p>
            <a:pPr eaLnBrk="0" fontAlgn="base" hangingPunct="0">
              <a:spcBef>
                <a:spcPct val="0"/>
              </a:spcBef>
              <a:spcAft>
                <a:spcPct val="0"/>
              </a:spcAft>
            </a:pPr>
            <a:r>
              <a:rPr lang="en-US" altLang="en-US" sz="3200" b="1" dirty="0">
                <a:latin typeface="Times New Roman" panose="02020603050405020304" pitchFamily="18" charset="0"/>
                <a:cs typeface="Times New Roman" panose="02020603050405020304" pitchFamily="18" charset="0"/>
              </a:rPr>
              <a:t>Future Scope</a:t>
            </a:r>
            <a:endParaRPr kumimoji="0" lang="en-US" altLang="en-US" sz="3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100" b="0" i="0" u="none" strike="noStrike" cap="none" normalizeH="0" baseline="0" dirty="0">
              <a:ln>
                <a:noFill/>
              </a:ln>
              <a:solidFill>
                <a:schemeClr val="tx1"/>
              </a:solidFill>
              <a:effectLst/>
              <a:latin typeface="Arial" panose="020B0604020202020204" pitchFamily="34" charset="0"/>
            </a:endParaRPr>
          </a:p>
        </p:txBody>
      </p:sp>
      <p:sp>
        <p:nvSpPr>
          <p:cNvPr id="9" name="TextBox 8">
            <a:extLst>
              <a:ext uri="{FF2B5EF4-FFF2-40B4-BE49-F238E27FC236}">
                <a16:creationId xmlns:a16="http://schemas.microsoft.com/office/drawing/2014/main" id="{7395DF10-5890-F215-ED5A-9144FDB01736}"/>
              </a:ext>
            </a:extLst>
          </p:cNvPr>
          <p:cNvSpPr txBox="1"/>
          <p:nvPr/>
        </p:nvSpPr>
        <p:spPr>
          <a:xfrm>
            <a:off x="251520" y="1028343"/>
            <a:ext cx="8640960" cy="4801314"/>
          </a:xfrm>
          <a:prstGeom prst="rect">
            <a:avLst/>
          </a:prstGeom>
          <a:noFill/>
        </p:spPr>
        <p:txBody>
          <a:bodyPr wrap="square">
            <a:spAutoFit/>
          </a:bodyPr>
          <a:lstStyle/>
          <a:p>
            <a:r>
              <a:rPr lang="en-US" dirty="0"/>
              <a:t>The system can be enhanced by incorporating larger and more diverse real-world healthcare datasets to improve accuracy and generalization.</a:t>
            </a:r>
          </a:p>
          <a:p>
            <a:endParaRPr lang="en-US" dirty="0"/>
          </a:p>
          <a:p>
            <a:r>
              <a:rPr lang="en-US" dirty="0"/>
              <a:t>Advanced machine learning models such as Gradient Boosting and Deep Learning techniques can be implemented to further enhance prediction performance.</a:t>
            </a:r>
          </a:p>
          <a:p>
            <a:endParaRPr lang="en-US" dirty="0"/>
          </a:p>
          <a:p>
            <a:r>
              <a:rPr lang="en-US" dirty="0"/>
              <a:t>Integration with real-time healthcare systems and hospital databases can enable continuous monitoring and instant prediction for patients.</a:t>
            </a:r>
          </a:p>
          <a:p>
            <a:endParaRPr lang="en-US" dirty="0"/>
          </a:p>
          <a:p>
            <a:r>
              <a:rPr lang="en-US" dirty="0"/>
              <a:t>The system can be extended with Explainable AI (XAI) techniques to improve model transparency and help doctors better understand predictions.</a:t>
            </a:r>
          </a:p>
          <a:p>
            <a:endParaRPr lang="en-US" dirty="0"/>
          </a:p>
          <a:p>
            <a:r>
              <a:rPr lang="en-US" dirty="0"/>
              <a:t>Mobile or web-based applications can be developed to make the system accessible for both healthcare professionals and patients.</a:t>
            </a:r>
          </a:p>
          <a:p>
            <a:endParaRPr lang="en-US" dirty="0"/>
          </a:p>
          <a:p>
            <a:r>
              <a:rPr lang="en-US" dirty="0"/>
              <a:t>Future improvements may also include personalized health recommendations based on patient data for better preventive care.</a:t>
            </a:r>
          </a:p>
        </p:txBody>
      </p:sp>
    </p:spTree>
    <p:extLst>
      <p:ext uri="{BB962C8B-B14F-4D97-AF65-F5344CB8AC3E}">
        <p14:creationId xmlns:p14="http://schemas.microsoft.com/office/powerpoint/2010/main" val="959129233"/>
      </p:ext>
    </p:extLst>
  </p:cSld>
  <p:clrMapOvr>
    <a:masterClrMapping/>
  </p:clrMapOvr>
  <p:transition advTm="4000">
    <p:cu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67544" y="260648"/>
            <a:ext cx="5400600" cy="584775"/>
          </a:xfrm>
          <a:prstGeom prst="rect">
            <a:avLst/>
          </a:prstGeom>
          <a:noFill/>
        </p:spPr>
        <p:txBody>
          <a:bodyPr wrap="square" rtlCol="0">
            <a:spAutoFit/>
          </a:bodyPr>
          <a:lstStyle/>
          <a:p>
            <a:r>
              <a:rPr lang="en-US" sz="3200" b="1" dirty="0">
                <a:latin typeface="Times New Roman" pitchFamily="18" charset="0"/>
                <a:cs typeface="Times New Roman" pitchFamily="18" charset="0"/>
              </a:rPr>
              <a:t>References</a:t>
            </a:r>
          </a:p>
        </p:txBody>
      </p:sp>
      <p:sp>
        <p:nvSpPr>
          <p:cNvPr id="3" name="Rectangle 2"/>
          <p:cNvSpPr/>
          <p:nvPr/>
        </p:nvSpPr>
        <p:spPr>
          <a:xfrm>
            <a:off x="395536" y="1196752"/>
            <a:ext cx="8136904" cy="3754874"/>
          </a:xfrm>
          <a:prstGeom prst="rect">
            <a:avLst/>
          </a:prstGeom>
        </p:spPr>
        <p:txBody>
          <a:bodyPr wrap="square">
            <a:spAutoFit/>
          </a:bodyPr>
          <a:lstStyle/>
          <a:p>
            <a:pPr marL="342900" indent="-342900">
              <a:buFont typeface="+mj-lt"/>
              <a:buAutoNum type="arabicParenR"/>
            </a:pPr>
            <a:r>
              <a:rPr lang="en-IN" dirty="0"/>
              <a:t>International Diabetes Federation, </a:t>
            </a:r>
            <a:r>
              <a:rPr lang="en-IN" i="1" dirty="0"/>
              <a:t>IDF Diabetes Atlas</a:t>
            </a:r>
            <a:r>
              <a:rPr lang="en-IN" dirty="0"/>
              <a:t>, 10th ed., 2021.</a:t>
            </a:r>
          </a:p>
          <a:p>
            <a:pPr marL="342900" indent="-342900">
              <a:buFont typeface="+mj-lt"/>
              <a:buAutoNum type="arabicParenR"/>
            </a:pPr>
            <a:r>
              <a:rPr lang="en-IN" dirty="0"/>
              <a:t>World Health Organization, </a:t>
            </a:r>
            <a:r>
              <a:rPr lang="en-IN" i="1" dirty="0"/>
              <a:t>Global Report on Diabetes</a:t>
            </a:r>
            <a:r>
              <a:rPr lang="en-IN" dirty="0"/>
              <a:t>, 2016.</a:t>
            </a:r>
          </a:p>
          <a:p>
            <a:pPr marL="342900" indent="-342900">
              <a:buFont typeface="+mj-lt"/>
              <a:buAutoNum type="arabicParenR"/>
            </a:pPr>
            <a:r>
              <a:rPr lang="en-IN" dirty="0"/>
              <a:t> T. Mitchell, </a:t>
            </a:r>
            <a:r>
              <a:rPr lang="en-IN" i="1" dirty="0"/>
              <a:t>Machine Learning</a:t>
            </a:r>
            <a:r>
              <a:rPr lang="en-IN" dirty="0"/>
              <a:t>, McGraw-Hill, 1997.</a:t>
            </a:r>
          </a:p>
          <a:p>
            <a:pPr marL="342900" indent="-342900">
              <a:buFont typeface="+mj-lt"/>
              <a:buAutoNum type="arabicParenR"/>
            </a:pPr>
            <a:r>
              <a:rPr lang="en-IN" dirty="0"/>
              <a:t> I. Goodfellow, Y. Bengio, and A. Courville, </a:t>
            </a:r>
            <a:r>
              <a:rPr lang="en-IN" i="1" dirty="0"/>
              <a:t>Deep Learning</a:t>
            </a:r>
            <a:r>
              <a:rPr lang="en-IN" dirty="0"/>
              <a:t>, MIT Press, 2016.</a:t>
            </a:r>
          </a:p>
          <a:p>
            <a:pPr marL="342900" indent="-342900">
              <a:buFont typeface="+mj-lt"/>
              <a:buAutoNum type="arabicParenR"/>
            </a:pPr>
            <a:r>
              <a:rPr lang="en-IN" dirty="0"/>
              <a:t> J. W. Smith et al., “Forecasting the onset of diabetes,” 1988.</a:t>
            </a:r>
          </a:p>
          <a:p>
            <a:pPr marL="342900" indent="-342900">
              <a:buFont typeface="+mj-lt"/>
              <a:buAutoNum type="arabicParenR"/>
            </a:pPr>
            <a:r>
              <a:rPr lang="en-IN" dirty="0"/>
              <a:t> K. Polat and S. Güneş, “Diagnosis of diabetes using ML techniques,” 2007.</a:t>
            </a:r>
          </a:p>
          <a:p>
            <a:pPr marL="342900" indent="-342900">
              <a:buFont typeface="+mj-lt"/>
              <a:buAutoNum type="arabicParenR"/>
            </a:pPr>
            <a:r>
              <a:rPr lang="en-IN" dirty="0"/>
              <a:t> L. </a:t>
            </a:r>
            <a:r>
              <a:rPr lang="en-IN" dirty="0" err="1"/>
              <a:t>Breiman</a:t>
            </a:r>
            <a:r>
              <a:rPr lang="en-IN" dirty="0"/>
              <a:t>, “Random Forests,” </a:t>
            </a:r>
            <a:r>
              <a:rPr lang="en-IN" i="1" dirty="0"/>
              <a:t>Machine Learning</a:t>
            </a:r>
            <a:r>
              <a:rPr lang="en-IN" dirty="0"/>
              <a:t>, 2001.</a:t>
            </a:r>
          </a:p>
          <a:p>
            <a:pPr marL="342900" indent="-342900">
              <a:buFont typeface="+mj-lt"/>
              <a:buAutoNum type="arabicParenR"/>
            </a:pPr>
            <a:r>
              <a:rPr lang="en-IN" dirty="0"/>
              <a:t> J. Friedman, “Gradient Boosting Machine,” 2001.</a:t>
            </a:r>
          </a:p>
          <a:p>
            <a:pPr marL="342900" indent="-342900">
              <a:buFont typeface="+mj-lt"/>
              <a:buAutoNum type="arabicParenR"/>
            </a:pPr>
            <a:r>
              <a:rPr lang="en-IN" dirty="0"/>
              <a:t> D. Sisodia and D. Sisodia, “Diabetes prediction using classification algorithms,” 2018.</a:t>
            </a:r>
          </a:p>
          <a:p>
            <a:pPr marL="342900" indent="-342900">
              <a:buFont typeface="+mj-lt"/>
              <a:buAutoNum type="arabicParenR"/>
            </a:pPr>
            <a:r>
              <a:rPr lang="en-IN" dirty="0"/>
              <a:t> V. A. Kumari and R. Chitra, “SVM for diabetes classification,” 2013.</a:t>
            </a:r>
          </a:p>
          <a:p>
            <a:endParaRPr lang="en-US" sz="4000" dirty="0">
              <a:latin typeface="Times New Roman" pitchFamily="18" charset="0"/>
              <a:cs typeface="Times New Roman" pitchFamily="18" charset="0"/>
            </a:endParaRPr>
          </a:p>
        </p:txBody>
      </p:sp>
    </p:spTree>
  </p:cSld>
  <p:clrMapOvr>
    <a:masterClrMapping/>
  </p:clrMapOvr>
  <p:transition advTm="4000">
    <p:cu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8" name="AutoShape 4" descr="Download The Best Thank You Slide For PPT Presentatio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30" name="AutoShape 6" descr="Download The Best Thank You Slide For PPT Presentatio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32" name="AutoShape 8" descr="Download The Best Thank You Slide For PPT Presentatio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2" name="Picture 4" descr="Thank You Lettering Stock Illustration - Download Image Now - Scribble,  Thank You - Phrase, Art - iStock">
            <a:extLst>
              <a:ext uri="{FF2B5EF4-FFF2-40B4-BE49-F238E27FC236}">
                <a16:creationId xmlns:a16="http://schemas.microsoft.com/office/drawing/2014/main" id="{57A349F7-419E-70A1-1A48-1283F732E49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575" y="836712"/>
            <a:ext cx="8676456" cy="554461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advTm="4000">
    <p:cut/>
  </p:transition>
</p:sld>
</file>

<file path=ppt/theme/theme1.xml><?xml version="1.0" encoding="utf-8"?>
<a:theme xmlns:a="http://schemas.openxmlformats.org/drawingml/2006/main" name="Bubble Sor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1730</TotalTime>
  <Words>1088</Words>
  <Application>Microsoft Office PowerPoint</Application>
  <PresentationFormat>On-screen Show (4:3)</PresentationFormat>
  <Paragraphs>107</Paragraphs>
  <Slides>10</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Calibri</vt:lpstr>
      <vt:lpstr>Söhne</vt:lpstr>
      <vt:lpstr>Times New Roman</vt:lpstr>
      <vt:lpstr>Wingdings</vt:lpstr>
      <vt:lpstr>Bubble Sort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Cricket</dc:title>
  <dc:creator>abc</dc:creator>
  <cp:lastModifiedBy>ayush bhrouta</cp:lastModifiedBy>
  <cp:revision>64</cp:revision>
  <dcterms:created xsi:type="dcterms:W3CDTF">2022-12-12T14:14:34Z</dcterms:created>
  <dcterms:modified xsi:type="dcterms:W3CDTF">2026-04-30T17:39:25Z</dcterms:modified>
</cp:coreProperties>
</file>